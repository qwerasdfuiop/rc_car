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4FFEB-BF78-0673-D3CA-41CA6D1EC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176D82-6F0F-DE57-53FF-8AF6B333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55468A-7D9F-1EE9-2712-4AF214D8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99BF77-0161-DAFB-5FE8-4E78DDF1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A82C57-1791-2CD0-865A-32028C30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88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9E37E-EBC5-F9D6-11B4-1CF92085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C6601F-78F9-4F7C-B43D-39A0937AC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BC9761-5665-4CC9-1D5A-402891ADF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45C745-EF8A-05A6-6D3B-BA480C75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641CA-F85D-A4EE-2F2A-5B218DDBD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24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DB18A-0444-C9AA-E7BA-2E80C58A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7CFCAD-EFFD-8344-F4BA-6864A2761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EFE748-4F54-493F-2CEF-D68FD4FA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DA6408-66A9-CB36-8BDD-6F98F928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2971FE-6A51-88D9-65DE-B09EF17A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44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9596D-86D9-E027-245C-3727292A2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60F678-F480-ED43-381A-2EA70417E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A96B1F-37A9-3761-7F2F-F9C50D8C2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3BA1EF-CBFB-A098-91F8-3F682C6E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E30207-3F13-A996-8315-0E92FFE6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8C5426-FDD6-8090-9B5B-09F0EC34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37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AC31A-3391-FC5D-3964-E32C6686C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1BE67-9025-D848-B979-DD95F95A5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DB326B-7594-DD6B-EFB3-E24705C17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D31269-D10A-441E-6247-B6D0E9CBC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D0FA5A-B5B8-06D3-D697-81CA115CD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768F2F-8FD4-6B5C-D3B9-497D0908E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4F8D65-7987-C1E8-3535-1E56E6C30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3830DF-FB02-6546-5C7F-397BDF6C8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90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7B07A4-7505-2E35-38C0-570328B5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46E09B-02C6-0D1A-3C36-73ABCF18A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0E72F9-CEA7-82BD-4BA8-6BC706BCF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26FF87-9C7F-1A34-3A29-E2915CA7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321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41B5B8-BD06-C17D-0FD4-1F44A3C3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0BC896F-94E8-094D-FD10-73049B6A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92339E-7781-50EB-010E-A26E605B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49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28D04-09A7-5C4A-AF50-C420A2B5E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F62C9-DB61-8480-9A7C-585EFFAFB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BA9319-4732-9955-7C9F-CBB8819F8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9F72C-2561-3F77-AF7B-61CBD602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3CB68F-005B-BF92-7BBF-51281A3AE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008741-7BF5-E543-3F28-253BE610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786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384F7-7236-DEAF-B7E8-FF9B2C99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56FD455-3EE5-EB0D-4AA5-5BB5725D8B7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ED7CBA-5D95-DB6F-F9EB-68DB5B8CE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758FA3-0A4C-F38C-258C-E6E432A9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BD83D5-0F6B-5247-8003-B667A005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3D53AD-BE9B-6A1F-BF6C-4161114D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64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7A7BC4-095B-876B-0DC1-B5A4C73A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2527FB-1BC4-E094-BD8F-08A691E91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38992-3DB4-98AC-4284-E139BAF82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F24179-0B93-6C39-5C99-21121DFA6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0A7C2F-73C8-0632-5C2A-2ECBB850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57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B0D8C9-7A0B-9A17-7D86-2D591B824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2C9E9B-7C1C-7DD3-F646-97DBCB0D7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5FDF5-563F-A27C-6717-F40734E34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2041C0-198C-AF3E-1705-BBD32FDB7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C1464B-66AA-B211-6DA1-287DDC8B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66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B79341-C224-E0CB-4140-5C1FDED85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62BBC8-F822-7734-A2ED-087F56B5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659615-FB4B-1366-293B-557EA18D6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E45FD-1FFF-4AD5-9672-63A52B9A467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FB5E33-CB0A-5ECB-7C14-ACFFC0D90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681CA5-8B1F-1610-B5F6-92263521D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5893A-D3A6-4F1D-B379-281EECD36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04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05EF9-1DA6-9AD4-B98A-3E78DC5F8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RC</a:t>
            </a:r>
            <a:r>
              <a:rPr lang="ko-KR" altLang="en-US" dirty="0"/>
              <a:t>카 임베디드 시스템 </a:t>
            </a:r>
            <a:r>
              <a:rPr lang="en-US" altLang="ko-KR" dirty="0"/>
              <a:t>SW</a:t>
            </a:r>
            <a:r>
              <a:rPr lang="ko-KR" altLang="en-US" dirty="0"/>
              <a:t> 구현 및 통합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DE04CC-13D2-022F-6006-970ED588E8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STM32F446REx</a:t>
            </a:r>
            <a:r>
              <a:rPr lang="ko-KR" altLang="en-US" dirty="0"/>
              <a:t>와 </a:t>
            </a:r>
            <a:r>
              <a:rPr lang="en-US" altLang="ko-KR" dirty="0"/>
              <a:t>IC </a:t>
            </a:r>
            <a:r>
              <a:rPr lang="ko-KR" altLang="en-US" dirty="0"/>
              <a:t>장치 통합 시스템 구현</a:t>
            </a:r>
          </a:p>
        </p:txBody>
      </p:sp>
    </p:spTree>
    <p:extLst>
      <p:ext uri="{BB962C8B-B14F-4D97-AF65-F5344CB8AC3E}">
        <p14:creationId xmlns:p14="http://schemas.microsoft.com/office/powerpoint/2010/main" val="265859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47BF6-FDB4-C3DC-D584-872B2335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94"/>
            <a:ext cx="10515600" cy="1325563"/>
          </a:xfrm>
        </p:spPr>
        <p:txBody>
          <a:bodyPr/>
          <a:lstStyle/>
          <a:p>
            <a:r>
              <a:rPr lang="ko-KR" altLang="en-US" dirty="0"/>
              <a:t>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0B6DC95-05CA-11BB-1E04-3536BBF83EA1}"/>
              </a:ext>
            </a:extLst>
          </p:cNvPr>
          <p:cNvSpPr/>
          <p:nvPr/>
        </p:nvSpPr>
        <p:spPr>
          <a:xfrm>
            <a:off x="4840314" y="3301180"/>
            <a:ext cx="1683366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BADFF-A05E-85FD-4A7B-942D379ECE76}"/>
              </a:ext>
            </a:extLst>
          </p:cNvPr>
          <p:cNvSpPr txBox="1"/>
          <p:nvPr/>
        </p:nvSpPr>
        <p:spPr>
          <a:xfrm>
            <a:off x="4856194" y="3510061"/>
            <a:ext cx="175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MCU</a:t>
            </a:r>
          </a:p>
          <a:p>
            <a:r>
              <a:rPr lang="en-US" altLang="ko-KR" dirty="0"/>
              <a:t>STM32F446RE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A571195-7D7F-1FBE-24BA-58994AA9DBB4}"/>
              </a:ext>
            </a:extLst>
          </p:cNvPr>
          <p:cNvSpPr/>
          <p:nvPr/>
        </p:nvSpPr>
        <p:spPr>
          <a:xfrm>
            <a:off x="7398773" y="1620666"/>
            <a:ext cx="1401097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AA57E-5168-28DA-E5BF-B339D94C656D}"/>
              </a:ext>
            </a:extLst>
          </p:cNvPr>
          <p:cNvSpPr txBox="1"/>
          <p:nvPr/>
        </p:nvSpPr>
        <p:spPr>
          <a:xfrm>
            <a:off x="7660739" y="1825545"/>
            <a:ext cx="891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수신기</a:t>
            </a:r>
            <a:endParaRPr lang="en-US" altLang="ko-KR" dirty="0"/>
          </a:p>
          <a:p>
            <a:r>
              <a:rPr lang="en-US" altLang="ko-KR" dirty="0"/>
              <a:t>FSiA6B</a:t>
            </a:r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6D96041-C81A-24AD-8DB4-F391C5708D4E}"/>
              </a:ext>
            </a:extLst>
          </p:cNvPr>
          <p:cNvSpPr/>
          <p:nvPr/>
        </p:nvSpPr>
        <p:spPr>
          <a:xfrm>
            <a:off x="9949200" y="1614767"/>
            <a:ext cx="1401097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60ABC3-2AB6-5871-380E-02DB0DE3BB30}"/>
              </a:ext>
            </a:extLst>
          </p:cNvPr>
          <p:cNvSpPr txBox="1"/>
          <p:nvPr/>
        </p:nvSpPr>
        <p:spPr>
          <a:xfrm>
            <a:off x="10211166" y="1825544"/>
            <a:ext cx="894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송신기</a:t>
            </a:r>
            <a:endParaRPr lang="en-US" altLang="ko-KR" dirty="0"/>
          </a:p>
          <a:p>
            <a:r>
              <a:rPr lang="en-US" altLang="ko-KR" dirty="0"/>
              <a:t>FSiA6B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A7DDA70-BD2E-108B-D4D1-7CD3C90F68C2}"/>
              </a:ext>
            </a:extLst>
          </p:cNvPr>
          <p:cNvSpPr/>
          <p:nvPr/>
        </p:nvSpPr>
        <p:spPr>
          <a:xfrm>
            <a:off x="9687232" y="5302899"/>
            <a:ext cx="1401097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097AB2-6BB3-F8EF-5300-661C25CC6C75}"/>
              </a:ext>
            </a:extLst>
          </p:cNvPr>
          <p:cNvSpPr txBox="1"/>
          <p:nvPr/>
        </p:nvSpPr>
        <p:spPr>
          <a:xfrm>
            <a:off x="9949200" y="550473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배터리</a:t>
            </a:r>
            <a:endParaRPr lang="en-US" altLang="ko-KR" dirty="0"/>
          </a:p>
          <a:p>
            <a:r>
              <a:rPr lang="en-US" altLang="ko-KR" dirty="0"/>
              <a:t>7.4V</a:t>
            </a:r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3B68A68-B3DC-5012-354E-EA925DD565AF}"/>
              </a:ext>
            </a:extLst>
          </p:cNvPr>
          <p:cNvSpPr/>
          <p:nvPr/>
        </p:nvSpPr>
        <p:spPr>
          <a:xfrm>
            <a:off x="6876609" y="5302899"/>
            <a:ext cx="1401097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49924E-3C77-B3DD-B9A3-AFC6283A2C0D}"/>
              </a:ext>
            </a:extLst>
          </p:cNvPr>
          <p:cNvSpPr txBox="1"/>
          <p:nvPr/>
        </p:nvSpPr>
        <p:spPr>
          <a:xfrm>
            <a:off x="7070447" y="5504732"/>
            <a:ext cx="1013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DC-DC</a:t>
            </a:r>
          </a:p>
          <a:p>
            <a:r>
              <a:rPr lang="en-US" altLang="ko-KR" dirty="0"/>
              <a:t>LM2596</a:t>
            </a:r>
            <a:endParaRPr lang="ko-KR" altLang="en-US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03AC5DB-2EAF-2A62-CC28-A3C43A39708C}"/>
              </a:ext>
            </a:extLst>
          </p:cNvPr>
          <p:cNvSpPr/>
          <p:nvPr/>
        </p:nvSpPr>
        <p:spPr>
          <a:xfrm>
            <a:off x="1217130" y="1706455"/>
            <a:ext cx="1401097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91F57D-27CD-91F6-9846-A2EA75687CF6}"/>
              </a:ext>
            </a:extLst>
          </p:cNvPr>
          <p:cNvSpPr txBox="1"/>
          <p:nvPr/>
        </p:nvSpPr>
        <p:spPr>
          <a:xfrm>
            <a:off x="1249082" y="1951211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가속도센서</a:t>
            </a:r>
            <a:endParaRPr lang="en-US" altLang="ko-KR" dirty="0"/>
          </a:p>
          <a:p>
            <a:r>
              <a:rPr lang="en-US" altLang="ko-KR" dirty="0"/>
              <a:t>MPU6050</a:t>
            </a:r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C49272D-7C81-7933-9796-9F03B58AD98F}"/>
              </a:ext>
            </a:extLst>
          </p:cNvPr>
          <p:cNvSpPr/>
          <p:nvPr/>
        </p:nvSpPr>
        <p:spPr>
          <a:xfrm>
            <a:off x="1249082" y="3389671"/>
            <a:ext cx="1683366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023C52-F1F5-65D7-9992-F00326E5C314}"/>
              </a:ext>
            </a:extLst>
          </p:cNvPr>
          <p:cNvSpPr txBox="1"/>
          <p:nvPr/>
        </p:nvSpPr>
        <p:spPr>
          <a:xfrm>
            <a:off x="1421351" y="3628469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디스플레이</a:t>
            </a:r>
            <a:endParaRPr lang="en-US" altLang="ko-KR" dirty="0"/>
          </a:p>
          <a:p>
            <a:r>
              <a:rPr lang="en-US" altLang="ko-KR" dirty="0"/>
              <a:t>MAX7219</a:t>
            </a:r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A9176CB-B6D8-9F8D-472D-D1DCAC372E43}"/>
              </a:ext>
            </a:extLst>
          </p:cNvPr>
          <p:cNvSpPr/>
          <p:nvPr/>
        </p:nvSpPr>
        <p:spPr>
          <a:xfrm>
            <a:off x="2375660" y="5225938"/>
            <a:ext cx="1683366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EC4930-C4C6-A003-99F8-5888E2693102}"/>
              </a:ext>
            </a:extLst>
          </p:cNvPr>
          <p:cNvSpPr txBox="1"/>
          <p:nvPr/>
        </p:nvSpPr>
        <p:spPr>
          <a:xfrm>
            <a:off x="2407612" y="5437678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모터 드라이버</a:t>
            </a:r>
            <a:endParaRPr lang="en-US" altLang="ko-KR" dirty="0"/>
          </a:p>
          <a:p>
            <a:r>
              <a:rPr lang="en-US" altLang="ko-KR" dirty="0"/>
              <a:t>TB6621FNG</a:t>
            </a:r>
            <a:endParaRPr lang="ko-KR" altLang="en-US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123543D-CDF6-57D7-6284-1BDAED5110AC}"/>
              </a:ext>
            </a:extLst>
          </p:cNvPr>
          <p:cNvSpPr/>
          <p:nvPr/>
        </p:nvSpPr>
        <p:spPr>
          <a:xfrm>
            <a:off x="8149277" y="3389360"/>
            <a:ext cx="2174594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37990C-03AF-08F8-6F80-98AC59F0EF57}"/>
              </a:ext>
            </a:extLst>
          </p:cNvPr>
          <p:cNvSpPr txBox="1"/>
          <p:nvPr/>
        </p:nvSpPr>
        <p:spPr>
          <a:xfrm>
            <a:off x="8309482" y="3569167"/>
            <a:ext cx="1850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전압분배회로</a:t>
            </a:r>
            <a:endParaRPr lang="en-US" altLang="ko-KR" dirty="0"/>
          </a:p>
          <a:p>
            <a:r>
              <a:rPr lang="en-US" altLang="ko-KR" dirty="0"/>
              <a:t>10k </a:t>
            </a:r>
            <a:r>
              <a:rPr lang="ko-KR" altLang="en-US" dirty="0"/>
              <a:t>옴 저항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</a:p>
        </p:txBody>
      </p:sp>
      <p:sp>
        <p:nvSpPr>
          <p:cNvPr id="3" name="화살표: 위쪽/아래쪽 2">
            <a:extLst>
              <a:ext uri="{FF2B5EF4-FFF2-40B4-BE49-F238E27FC236}">
                <a16:creationId xmlns:a16="http://schemas.microsoft.com/office/drawing/2014/main" id="{4FA4B5DD-6FD3-9875-DE28-18DD8415D875}"/>
              </a:ext>
            </a:extLst>
          </p:cNvPr>
          <p:cNvSpPr/>
          <p:nvPr/>
        </p:nvSpPr>
        <p:spPr>
          <a:xfrm rot="17887198">
            <a:off x="3548827" y="1721863"/>
            <a:ext cx="416897" cy="2277907"/>
          </a:xfrm>
          <a:prstGeom prst="upDownArrow">
            <a:avLst>
              <a:gd name="adj1" fmla="val 21124"/>
              <a:gd name="adj2" fmla="val 474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E4EBE-D17E-839D-7B22-4F73B4126392}"/>
              </a:ext>
            </a:extLst>
          </p:cNvPr>
          <p:cNvSpPr txBox="1"/>
          <p:nvPr/>
        </p:nvSpPr>
        <p:spPr>
          <a:xfrm>
            <a:off x="3595718" y="2393504"/>
            <a:ext cx="6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I2C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B270C5-70A8-D1C4-8C0D-6F4FFBCDD51A}"/>
              </a:ext>
            </a:extLst>
          </p:cNvPr>
          <p:cNvSpPr txBox="1"/>
          <p:nvPr/>
        </p:nvSpPr>
        <p:spPr>
          <a:xfrm>
            <a:off x="3558721" y="3452683"/>
            <a:ext cx="6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SPI</a:t>
            </a:r>
            <a:endParaRPr lang="ko-KR" altLang="en-US" dirty="0"/>
          </a:p>
        </p:txBody>
      </p:sp>
      <p:sp>
        <p:nvSpPr>
          <p:cNvPr id="15" name="화살표: 굽음 14">
            <a:extLst>
              <a:ext uri="{FF2B5EF4-FFF2-40B4-BE49-F238E27FC236}">
                <a16:creationId xmlns:a16="http://schemas.microsoft.com/office/drawing/2014/main" id="{6B6CB8AD-56AC-D8EB-AB97-C0A8932F9341}"/>
              </a:ext>
            </a:extLst>
          </p:cNvPr>
          <p:cNvSpPr/>
          <p:nvPr/>
        </p:nvSpPr>
        <p:spPr>
          <a:xfrm rot="16200000">
            <a:off x="5318023" y="4359382"/>
            <a:ext cx="1555954" cy="1561217"/>
          </a:xfrm>
          <a:prstGeom prst="bentArrow">
            <a:avLst>
              <a:gd name="adj1" fmla="val 6780"/>
              <a:gd name="adj2" fmla="val 13678"/>
              <a:gd name="adj3" fmla="val 14958"/>
              <a:gd name="adj4" fmla="val 437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화살표: 왼쪽 16">
            <a:extLst>
              <a:ext uri="{FF2B5EF4-FFF2-40B4-BE49-F238E27FC236}">
                <a16:creationId xmlns:a16="http://schemas.microsoft.com/office/drawing/2014/main" id="{F89B7331-40A3-99D8-DE0D-84D968B741A6}"/>
              </a:ext>
            </a:extLst>
          </p:cNvPr>
          <p:cNvSpPr/>
          <p:nvPr/>
        </p:nvSpPr>
        <p:spPr>
          <a:xfrm>
            <a:off x="2957425" y="3769735"/>
            <a:ext cx="1821623" cy="273432"/>
          </a:xfrm>
          <a:prstGeom prst="leftArrow">
            <a:avLst>
              <a:gd name="adj1" fmla="val 46688"/>
              <a:gd name="adj2" fmla="val 560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왼쪽 20">
            <a:extLst>
              <a:ext uri="{FF2B5EF4-FFF2-40B4-BE49-F238E27FC236}">
                <a16:creationId xmlns:a16="http://schemas.microsoft.com/office/drawing/2014/main" id="{2F0D36FE-BB08-B04B-0A72-2261355E7534}"/>
              </a:ext>
            </a:extLst>
          </p:cNvPr>
          <p:cNvSpPr/>
          <p:nvPr/>
        </p:nvSpPr>
        <p:spPr>
          <a:xfrm rot="19001171">
            <a:off x="3868980" y="4683544"/>
            <a:ext cx="1255268" cy="343550"/>
          </a:xfrm>
          <a:prstGeom prst="leftArrow">
            <a:avLst>
              <a:gd name="adj1" fmla="val 32125"/>
              <a:gd name="adj2" fmla="val 560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0D90BD-D40C-1CFC-FB6E-1E33A98CAAA7}"/>
              </a:ext>
            </a:extLst>
          </p:cNvPr>
          <p:cNvSpPr txBox="1"/>
          <p:nvPr/>
        </p:nvSpPr>
        <p:spPr>
          <a:xfrm>
            <a:off x="3370251" y="4486443"/>
            <a:ext cx="6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TIM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29F27D-B5CF-5D13-AE61-43A79322ECC7}"/>
              </a:ext>
            </a:extLst>
          </p:cNvPr>
          <p:cNvSpPr txBox="1"/>
          <p:nvPr/>
        </p:nvSpPr>
        <p:spPr>
          <a:xfrm>
            <a:off x="6204149" y="2431557"/>
            <a:ext cx="811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UART</a:t>
            </a:r>
            <a:endParaRPr lang="ko-KR" altLang="en-US" dirty="0"/>
          </a:p>
        </p:txBody>
      </p:sp>
      <p:sp>
        <p:nvSpPr>
          <p:cNvPr id="43" name="화살표: 왼쪽 42">
            <a:extLst>
              <a:ext uri="{FF2B5EF4-FFF2-40B4-BE49-F238E27FC236}">
                <a16:creationId xmlns:a16="http://schemas.microsoft.com/office/drawing/2014/main" id="{50360768-7F41-3B7C-6255-CCA087800C01}"/>
              </a:ext>
            </a:extLst>
          </p:cNvPr>
          <p:cNvSpPr/>
          <p:nvPr/>
        </p:nvSpPr>
        <p:spPr>
          <a:xfrm rot="19472117">
            <a:off x="6331745" y="2802783"/>
            <a:ext cx="1189254" cy="336071"/>
          </a:xfrm>
          <a:prstGeom prst="leftArrow">
            <a:avLst>
              <a:gd name="adj1" fmla="val 46688"/>
              <a:gd name="adj2" fmla="val 560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화살표: 왼쪽 46">
            <a:extLst>
              <a:ext uri="{FF2B5EF4-FFF2-40B4-BE49-F238E27FC236}">
                <a16:creationId xmlns:a16="http://schemas.microsoft.com/office/drawing/2014/main" id="{179B89A8-CF31-211C-6008-2DEDF9169E51}"/>
              </a:ext>
            </a:extLst>
          </p:cNvPr>
          <p:cNvSpPr/>
          <p:nvPr/>
        </p:nvSpPr>
        <p:spPr>
          <a:xfrm>
            <a:off x="6539559" y="3754878"/>
            <a:ext cx="1609717" cy="280260"/>
          </a:xfrm>
          <a:prstGeom prst="leftArrow">
            <a:avLst>
              <a:gd name="adj1" fmla="val 46688"/>
              <a:gd name="adj2" fmla="val 560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1C1BEC-827D-C6EB-0FC4-C4EDC78F0C27}"/>
              </a:ext>
            </a:extLst>
          </p:cNvPr>
          <p:cNvSpPr txBox="1"/>
          <p:nvPr/>
        </p:nvSpPr>
        <p:spPr>
          <a:xfrm>
            <a:off x="6988130" y="3385546"/>
            <a:ext cx="6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ADC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FE2814-653C-D953-210A-63DEE3E69B95}"/>
              </a:ext>
            </a:extLst>
          </p:cNvPr>
          <p:cNvSpPr txBox="1"/>
          <p:nvPr/>
        </p:nvSpPr>
        <p:spPr>
          <a:xfrm>
            <a:off x="5738707" y="5027526"/>
            <a:ext cx="67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전원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CDF3174-4BAE-FEBE-CB0E-2EF4E87A5D09}"/>
              </a:ext>
            </a:extLst>
          </p:cNvPr>
          <p:cNvSpPr/>
          <p:nvPr/>
        </p:nvSpPr>
        <p:spPr>
          <a:xfrm>
            <a:off x="411669" y="5225938"/>
            <a:ext cx="1401097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95EF26-1106-0A49-4853-1C157AF5FC69}"/>
              </a:ext>
            </a:extLst>
          </p:cNvPr>
          <p:cNvSpPr txBox="1"/>
          <p:nvPr/>
        </p:nvSpPr>
        <p:spPr>
          <a:xfrm>
            <a:off x="799757" y="556238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모터</a:t>
            </a:r>
          </a:p>
        </p:txBody>
      </p:sp>
      <p:sp>
        <p:nvSpPr>
          <p:cNvPr id="60" name="화살표: 왼쪽 59">
            <a:extLst>
              <a:ext uri="{FF2B5EF4-FFF2-40B4-BE49-F238E27FC236}">
                <a16:creationId xmlns:a16="http://schemas.microsoft.com/office/drawing/2014/main" id="{545BD080-69F2-B0C8-30D9-6A2C608C9EED}"/>
              </a:ext>
            </a:extLst>
          </p:cNvPr>
          <p:cNvSpPr/>
          <p:nvPr/>
        </p:nvSpPr>
        <p:spPr>
          <a:xfrm>
            <a:off x="1731114" y="5504732"/>
            <a:ext cx="67649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화살표: 왼쪽 61">
            <a:extLst>
              <a:ext uri="{FF2B5EF4-FFF2-40B4-BE49-F238E27FC236}">
                <a16:creationId xmlns:a16="http://schemas.microsoft.com/office/drawing/2014/main" id="{70A17D84-E6E0-0D32-9BA9-587D0E34DF6D}"/>
              </a:ext>
            </a:extLst>
          </p:cNvPr>
          <p:cNvSpPr/>
          <p:nvPr/>
        </p:nvSpPr>
        <p:spPr>
          <a:xfrm>
            <a:off x="8796517" y="1887776"/>
            <a:ext cx="1075069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화살표: 왼쪽 64">
            <a:extLst>
              <a:ext uri="{FF2B5EF4-FFF2-40B4-BE49-F238E27FC236}">
                <a16:creationId xmlns:a16="http://schemas.microsoft.com/office/drawing/2014/main" id="{AF1C4D3D-0DCD-A18B-F1D1-546265AE8A21}"/>
              </a:ext>
            </a:extLst>
          </p:cNvPr>
          <p:cNvSpPr/>
          <p:nvPr/>
        </p:nvSpPr>
        <p:spPr>
          <a:xfrm>
            <a:off x="8277704" y="5699341"/>
            <a:ext cx="1401097" cy="265782"/>
          </a:xfrm>
          <a:prstGeom prst="leftArrow">
            <a:avLst>
              <a:gd name="adj1" fmla="val 46688"/>
              <a:gd name="adj2" fmla="val 5608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화살표: 위쪽 65">
            <a:extLst>
              <a:ext uri="{FF2B5EF4-FFF2-40B4-BE49-F238E27FC236}">
                <a16:creationId xmlns:a16="http://schemas.microsoft.com/office/drawing/2014/main" id="{069385FD-5655-61CE-B4BA-287083C397EA}"/>
              </a:ext>
            </a:extLst>
          </p:cNvPr>
          <p:cNvSpPr/>
          <p:nvPr/>
        </p:nvSpPr>
        <p:spPr>
          <a:xfrm>
            <a:off x="8934890" y="4452123"/>
            <a:ext cx="343626" cy="129492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84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70D6E-E2A5-1CD3-AF05-26873F83B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슈퍼루프 기반 구현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D5C0D76-FD35-B184-FAAE-391936EEEF2C}"/>
              </a:ext>
            </a:extLst>
          </p:cNvPr>
          <p:cNvSpPr/>
          <p:nvPr/>
        </p:nvSpPr>
        <p:spPr>
          <a:xfrm>
            <a:off x="1217129" y="1273836"/>
            <a:ext cx="4079837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F0998-BCC1-B850-5F4B-ED23FCD30D38}"/>
              </a:ext>
            </a:extLst>
          </p:cNvPr>
          <p:cNvSpPr txBox="1"/>
          <p:nvPr/>
        </p:nvSpPr>
        <p:spPr>
          <a:xfrm>
            <a:off x="1322803" y="1431609"/>
            <a:ext cx="3878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전압 레벨 확인 및 </a:t>
            </a:r>
            <a:endParaRPr lang="en-US" altLang="ko-KR" dirty="0"/>
          </a:p>
          <a:p>
            <a:pPr algn="ctr"/>
            <a:r>
              <a:rPr lang="ko-KR" altLang="en-US" dirty="0"/>
              <a:t>표시</a:t>
            </a:r>
            <a:r>
              <a:rPr lang="en-US" altLang="ko-KR" dirty="0"/>
              <a:t> (</a:t>
            </a:r>
            <a:r>
              <a:rPr lang="ko-KR" altLang="en-US" dirty="0"/>
              <a:t>도트 매트릭스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18CAE05-E1C2-A659-65F9-26199A4CCB7A}"/>
              </a:ext>
            </a:extLst>
          </p:cNvPr>
          <p:cNvSpPr/>
          <p:nvPr/>
        </p:nvSpPr>
        <p:spPr>
          <a:xfrm>
            <a:off x="1217132" y="2663939"/>
            <a:ext cx="4079834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AA745D-7A23-E3F6-2A17-6F36423F51FB}"/>
              </a:ext>
            </a:extLst>
          </p:cNvPr>
          <p:cNvSpPr txBox="1"/>
          <p:nvPr/>
        </p:nvSpPr>
        <p:spPr>
          <a:xfrm>
            <a:off x="1322804" y="2862753"/>
            <a:ext cx="3878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가속도 센서를 통해</a:t>
            </a:r>
            <a:endParaRPr lang="en-US" altLang="ko-KR" dirty="0"/>
          </a:p>
          <a:p>
            <a:pPr algn="ctr"/>
            <a:r>
              <a:rPr lang="ko-KR" altLang="en-US" dirty="0"/>
              <a:t>차량이 전복되었는지 확인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C54ABF-1793-C3B7-EB15-1987101570EC}"/>
              </a:ext>
            </a:extLst>
          </p:cNvPr>
          <p:cNvSpPr/>
          <p:nvPr/>
        </p:nvSpPr>
        <p:spPr>
          <a:xfrm>
            <a:off x="1217129" y="4095083"/>
            <a:ext cx="4079837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DB41F0-DB41-9B28-72BD-1B820BB91332}"/>
              </a:ext>
            </a:extLst>
          </p:cNvPr>
          <p:cNvSpPr txBox="1"/>
          <p:nvPr/>
        </p:nvSpPr>
        <p:spPr>
          <a:xfrm>
            <a:off x="1322802" y="4431527"/>
            <a:ext cx="397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조종 신호가 제대로 들어오는지 확인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BEAE89B-A2D8-3584-8E2F-D4280F6ED1DF}"/>
              </a:ext>
            </a:extLst>
          </p:cNvPr>
          <p:cNvSpPr/>
          <p:nvPr/>
        </p:nvSpPr>
        <p:spPr>
          <a:xfrm>
            <a:off x="6374018" y="4095083"/>
            <a:ext cx="1963617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C51DCB-4DB3-ED43-AA54-0B5B45249F15}"/>
              </a:ext>
            </a:extLst>
          </p:cNvPr>
          <p:cNvSpPr txBox="1"/>
          <p:nvPr/>
        </p:nvSpPr>
        <p:spPr>
          <a:xfrm>
            <a:off x="6374017" y="4268307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조종신호 </a:t>
            </a:r>
            <a:r>
              <a:rPr lang="en-US" altLang="ko-KR" dirty="0"/>
              <a:t>UART </a:t>
            </a:r>
          </a:p>
          <a:p>
            <a:r>
              <a:rPr lang="ko-KR" altLang="en-US" dirty="0"/>
              <a:t>인터럽트로 수신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2E8F22AD-FA29-B9CC-62D3-EB1E62D62BD6}"/>
              </a:ext>
            </a:extLst>
          </p:cNvPr>
          <p:cNvSpPr/>
          <p:nvPr/>
        </p:nvSpPr>
        <p:spPr>
          <a:xfrm>
            <a:off x="2985511" y="2324983"/>
            <a:ext cx="484632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5BB191BA-1A6B-1684-E9E6-B5DE785CD209}"/>
              </a:ext>
            </a:extLst>
          </p:cNvPr>
          <p:cNvSpPr/>
          <p:nvPr/>
        </p:nvSpPr>
        <p:spPr>
          <a:xfrm>
            <a:off x="2985511" y="3716824"/>
            <a:ext cx="484632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F205F866-DDB4-BE6E-C3A2-871EB7FE4B4F}"/>
              </a:ext>
            </a:extLst>
          </p:cNvPr>
          <p:cNvSpPr/>
          <p:nvPr/>
        </p:nvSpPr>
        <p:spPr>
          <a:xfrm>
            <a:off x="2989004" y="5137303"/>
            <a:ext cx="484632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왼쪽 19">
            <a:extLst>
              <a:ext uri="{FF2B5EF4-FFF2-40B4-BE49-F238E27FC236}">
                <a16:creationId xmlns:a16="http://schemas.microsoft.com/office/drawing/2014/main" id="{0E908383-564B-2EEB-BABB-E27229928970}"/>
              </a:ext>
            </a:extLst>
          </p:cNvPr>
          <p:cNvSpPr/>
          <p:nvPr/>
        </p:nvSpPr>
        <p:spPr>
          <a:xfrm>
            <a:off x="5309512" y="4316227"/>
            <a:ext cx="1051960" cy="48463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C101EE8-14D2-1D7F-391A-D2F0292DFB7F}"/>
              </a:ext>
            </a:extLst>
          </p:cNvPr>
          <p:cNvSpPr/>
          <p:nvPr/>
        </p:nvSpPr>
        <p:spPr>
          <a:xfrm>
            <a:off x="8456432" y="5612979"/>
            <a:ext cx="3377102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C48EB2-842E-0386-5141-04D5207748A3}"/>
              </a:ext>
            </a:extLst>
          </p:cNvPr>
          <p:cNvSpPr txBox="1"/>
          <p:nvPr/>
        </p:nvSpPr>
        <p:spPr>
          <a:xfrm>
            <a:off x="8539776" y="5810677"/>
            <a:ext cx="3210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모터 제어 불가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신호에 따라 제어 </a:t>
            </a:r>
          </a:p>
        </p:txBody>
      </p:sp>
      <p:sp>
        <p:nvSpPr>
          <p:cNvPr id="29" name="다이아몬드 28">
            <a:extLst>
              <a:ext uri="{FF2B5EF4-FFF2-40B4-BE49-F238E27FC236}">
                <a16:creationId xmlns:a16="http://schemas.microsoft.com/office/drawing/2014/main" id="{8990C2C4-FD0D-C185-524E-56154BA0DA2C}"/>
              </a:ext>
            </a:extLst>
          </p:cNvPr>
          <p:cNvSpPr/>
          <p:nvPr/>
        </p:nvSpPr>
        <p:spPr>
          <a:xfrm>
            <a:off x="1191404" y="5524489"/>
            <a:ext cx="4079833" cy="1218709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288BEF-92E9-3449-A9AC-0A39B01B07D4}"/>
              </a:ext>
            </a:extLst>
          </p:cNvPr>
          <p:cNvSpPr txBox="1"/>
          <p:nvPr/>
        </p:nvSpPr>
        <p:spPr>
          <a:xfrm>
            <a:off x="1288596" y="5975617"/>
            <a:ext cx="387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차량에 문제가 있다면 제어 불가</a:t>
            </a:r>
          </a:p>
        </p:txBody>
      </p:sp>
      <p:sp>
        <p:nvSpPr>
          <p:cNvPr id="33" name="화살표: 왼쪽 32">
            <a:extLst>
              <a:ext uri="{FF2B5EF4-FFF2-40B4-BE49-F238E27FC236}">
                <a16:creationId xmlns:a16="http://schemas.microsoft.com/office/drawing/2014/main" id="{A6AEDDF0-DB1A-6282-B66D-97283992DF11}"/>
              </a:ext>
            </a:extLst>
          </p:cNvPr>
          <p:cNvSpPr/>
          <p:nvPr/>
        </p:nvSpPr>
        <p:spPr>
          <a:xfrm rot="10800000">
            <a:off x="5309511" y="5891527"/>
            <a:ext cx="3146921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굽음 33">
            <a:extLst>
              <a:ext uri="{FF2B5EF4-FFF2-40B4-BE49-F238E27FC236}">
                <a16:creationId xmlns:a16="http://schemas.microsoft.com/office/drawing/2014/main" id="{AEEEC635-64C2-D23C-492A-17F9B3654820}"/>
              </a:ext>
            </a:extLst>
          </p:cNvPr>
          <p:cNvSpPr/>
          <p:nvPr/>
        </p:nvSpPr>
        <p:spPr>
          <a:xfrm flipH="1">
            <a:off x="5296965" y="1415845"/>
            <a:ext cx="5105564" cy="4168318"/>
          </a:xfrm>
          <a:prstGeom prst="bentArrow">
            <a:avLst>
              <a:gd name="adj1" fmla="val 7432"/>
              <a:gd name="adj2" fmla="val 8385"/>
              <a:gd name="adj3" fmla="val 11197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32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DD0AA-4D82-8D4D-EF4F-3C0E9D689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 err="1"/>
              <a:t>FreeRTOS</a:t>
            </a:r>
            <a:r>
              <a:rPr lang="en-US" altLang="ko-KR" dirty="0"/>
              <a:t> </a:t>
            </a:r>
            <a:r>
              <a:rPr lang="ko-KR" altLang="en-US" dirty="0"/>
              <a:t>포팅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569A51-D64C-8C29-63A6-7F07C2B990FB}"/>
              </a:ext>
            </a:extLst>
          </p:cNvPr>
          <p:cNvSpPr/>
          <p:nvPr/>
        </p:nvSpPr>
        <p:spPr>
          <a:xfrm>
            <a:off x="586395" y="2609213"/>
            <a:ext cx="2494935" cy="38230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0B26D9-FC4F-82B2-C4BD-28FE4A99880F}"/>
              </a:ext>
            </a:extLst>
          </p:cNvPr>
          <p:cNvSpPr/>
          <p:nvPr/>
        </p:nvSpPr>
        <p:spPr>
          <a:xfrm>
            <a:off x="3427763" y="1850188"/>
            <a:ext cx="2494935" cy="45820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A86006-2746-1340-6B8F-ED800B468A1C}"/>
              </a:ext>
            </a:extLst>
          </p:cNvPr>
          <p:cNvSpPr/>
          <p:nvPr/>
        </p:nvSpPr>
        <p:spPr>
          <a:xfrm>
            <a:off x="6207048" y="2765775"/>
            <a:ext cx="2494935" cy="36664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5A3A7CE-67EE-50C4-4C28-5973582C5B0A}"/>
              </a:ext>
            </a:extLst>
          </p:cNvPr>
          <p:cNvSpPr/>
          <p:nvPr/>
        </p:nvSpPr>
        <p:spPr>
          <a:xfrm>
            <a:off x="9033821" y="2765775"/>
            <a:ext cx="2494935" cy="36664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B94861-9E68-FD2F-D28E-9A8F5E2EC420}"/>
              </a:ext>
            </a:extLst>
          </p:cNvPr>
          <p:cNvSpPr txBox="1"/>
          <p:nvPr/>
        </p:nvSpPr>
        <p:spPr>
          <a:xfrm>
            <a:off x="586395" y="2171361"/>
            <a:ext cx="2494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ControlTask</a:t>
            </a:r>
            <a:r>
              <a:rPr lang="en-US" altLang="ko-KR" sz="1600" dirty="0"/>
              <a:t>(10ms </a:t>
            </a:r>
            <a:r>
              <a:rPr lang="ko-KR" altLang="en-US" sz="1600" dirty="0"/>
              <a:t>주기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D9C445-70CD-2DD6-7076-036021997173}"/>
              </a:ext>
            </a:extLst>
          </p:cNvPr>
          <p:cNvSpPr txBox="1"/>
          <p:nvPr/>
        </p:nvSpPr>
        <p:spPr>
          <a:xfrm>
            <a:off x="3427762" y="1412337"/>
            <a:ext cx="2494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ReceiverTask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A07386-C981-B4A9-EC9A-0F62B90C9BBF}"/>
              </a:ext>
            </a:extLst>
          </p:cNvPr>
          <p:cNvSpPr txBox="1"/>
          <p:nvPr/>
        </p:nvSpPr>
        <p:spPr>
          <a:xfrm>
            <a:off x="6207048" y="2301981"/>
            <a:ext cx="2617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OverturnTask</a:t>
            </a:r>
            <a:r>
              <a:rPr lang="en-US" altLang="ko-KR" sz="1600" dirty="0"/>
              <a:t>(100ms </a:t>
            </a:r>
            <a:r>
              <a:rPr lang="ko-KR" altLang="en-US" sz="1600" dirty="0"/>
              <a:t>주기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E4F52-C915-DB60-942E-9F26AB1FCFEE}"/>
              </a:ext>
            </a:extLst>
          </p:cNvPr>
          <p:cNvSpPr txBox="1"/>
          <p:nvPr/>
        </p:nvSpPr>
        <p:spPr>
          <a:xfrm>
            <a:off x="9033821" y="2298473"/>
            <a:ext cx="2494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DisplayTask</a:t>
            </a:r>
            <a:r>
              <a:rPr lang="en-US" altLang="ko-KR" sz="1600" dirty="0"/>
              <a:t>(200ms </a:t>
            </a:r>
            <a:r>
              <a:rPr lang="ko-KR" altLang="en-US" sz="1600" dirty="0"/>
              <a:t>주기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C30D29F-A499-B4E9-1E51-E48D3B8F36A1}"/>
              </a:ext>
            </a:extLst>
          </p:cNvPr>
          <p:cNvSpPr/>
          <p:nvPr/>
        </p:nvSpPr>
        <p:spPr>
          <a:xfrm>
            <a:off x="763383" y="2961448"/>
            <a:ext cx="2160646" cy="7767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CA1C1-97AF-2B84-7CAA-9C82F56C556F}"/>
              </a:ext>
            </a:extLst>
          </p:cNvPr>
          <p:cNvSpPr txBox="1"/>
          <p:nvPr/>
        </p:nvSpPr>
        <p:spPr>
          <a:xfrm>
            <a:off x="1241117" y="3020830"/>
            <a:ext cx="1346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fail </a:t>
            </a:r>
            <a:r>
              <a:rPr lang="ko-KR" altLang="en-US" dirty="0"/>
              <a:t>플래그 </a:t>
            </a:r>
            <a:endParaRPr lang="en-US" altLang="ko-KR" dirty="0"/>
          </a:p>
          <a:p>
            <a:r>
              <a:rPr lang="ko-KR" altLang="en-US" dirty="0"/>
              <a:t>모두 확인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DF89252-F2EE-EAA3-F658-2FD2D9B5E0AD}"/>
              </a:ext>
            </a:extLst>
          </p:cNvPr>
          <p:cNvSpPr/>
          <p:nvPr/>
        </p:nvSpPr>
        <p:spPr>
          <a:xfrm>
            <a:off x="769226" y="5312942"/>
            <a:ext cx="2160646" cy="7767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F64FA0-3E21-C1B0-B9C9-3B5BD02EABC8}"/>
              </a:ext>
            </a:extLst>
          </p:cNvPr>
          <p:cNvSpPr txBox="1"/>
          <p:nvPr/>
        </p:nvSpPr>
        <p:spPr>
          <a:xfrm>
            <a:off x="1311168" y="551665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모터</a:t>
            </a:r>
            <a:r>
              <a:rPr lang="en-US" altLang="ko-KR" dirty="0"/>
              <a:t> </a:t>
            </a:r>
            <a:r>
              <a:rPr lang="ko-KR" altLang="en-US" dirty="0"/>
              <a:t>제어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80FCA68-AAD8-DA78-6E31-423CEFEBD31A}"/>
              </a:ext>
            </a:extLst>
          </p:cNvPr>
          <p:cNvSpPr/>
          <p:nvPr/>
        </p:nvSpPr>
        <p:spPr>
          <a:xfrm>
            <a:off x="3590760" y="2052119"/>
            <a:ext cx="2160646" cy="7767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AC7B3B-5968-7666-4D35-0CED1FFCFD2E}"/>
              </a:ext>
            </a:extLst>
          </p:cNvPr>
          <p:cNvSpPr txBox="1"/>
          <p:nvPr/>
        </p:nvSpPr>
        <p:spPr>
          <a:xfrm>
            <a:off x="3590760" y="2255827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큐에서 메시지 꺼냄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83C7143-F15A-C03D-D30A-9D742F729C9A}"/>
              </a:ext>
            </a:extLst>
          </p:cNvPr>
          <p:cNvSpPr/>
          <p:nvPr/>
        </p:nvSpPr>
        <p:spPr>
          <a:xfrm>
            <a:off x="3590760" y="2984632"/>
            <a:ext cx="2160646" cy="8003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93E607-1B3B-66F0-33B3-0BFBAFD6F836}"/>
              </a:ext>
            </a:extLst>
          </p:cNvPr>
          <p:cNvSpPr txBox="1"/>
          <p:nvPr/>
        </p:nvSpPr>
        <p:spPr>
          <a:xfrm>
            <a:off x="3977885" y="3200145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메시지 파싱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57722DD-4571-6026-AC7A-4EA854795FA0}"/>
              </a:ext>
            </a:extLst>
          </p:cNvPr>
          <p:cNvSpPr/>
          <p:nvPr/>
        </p:nvSpPr>
        <p:spPr>
          <a:xfrm>
            <a:off x="3590760" y="3940756"/>
            <a:ext cx="2160646" cy="8003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910427-883D-6CC7-24A8-E1943DEC8786}"/>
              </a:ext>
            </a:extLst>
          </p:cNvPr>
          <p:cNvSpPr txBox="1"/>
          <p:nvPr/>
        </p:nvSpPr>
        <p:spPr>
          <a:xfrm>
            <a:off x="3660357" y="4010921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파싱 결과를</a:t>
            </a:r>
            <a:endParaRPr lang="en-US" altLang="ko-KR" dirty="0"/>
          </a:p>
          <a:p>
            <a:r>
              <a:rPr lang="en-US" altLang="ko-KR" dirty="0" err="1"/>
              <a:t>ibus</a:t>
            </a:r>
            <a:r>
              <a:rPr lang="en-US" altLang="ko-KR" dirty="0"/>
              <a:t> </a:t>
            </a:r>
            <a:r>
              <a:rPr lang="ko-KR" altLang="en-US" dirty="0"/>
              <a:t>구조체에 저장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870855B-6992-DE5F-6547-4066ACBCDEB6}"/>
              </a:ext>
            </a:extLst>
          </p:cNvPr>
          <p:cNvCxnSpPr>
            <a:cxnSpLocks/>
          </p:cNvCxnSpPr>
          <p:nvPr/>
        </p:nvCxnSpPr>
        <p:spPr>
          <a:xfrm>
            <a:off x="3413168" y="3853815"/>
            <a:ext cx="247527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D39FA094-039A-B4DF-33F2-A86693FE9CA8}"/>
              </a:ext>
            </a:extLst>
          </p:cNvPr>
          <p:cNvCxnSpPr>
            <a:cxnSpLocks/>
          </p:cNvCxnSpPr>
          <p:nvPr/>
        </p:nvCxnSpPr>
        <p:spPr>
          <a:xfrm>
            <a:off x="3450540" y="5205750"/>
            <a:ext cx="247527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5E43164-8AEF-729D-302A-809A1DD3B030}"/>
              </a:ext>
            </a:extLst>
          </p:cNvPr>
          <p:cNvSpPr txBox="1"/>
          <p:nvPr/>
        </p:nvSpPr>
        <p:spPr>
          <a:xfrm>
            <a:off x="3590760" y="4798134"/>
            <a:ext cx="190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ibus</a:t>
            </a:r>
            <a:r>
              <a:rPr lang="en-US" altLang="ko-KR" sz="1400" dirty="0"/>
              <a:t> </a:t>
            </a:r>
            <a:r>
              <a:rPr lang="ko-KR" altLang="en-US" sz="1400" dirty="0"/>
              <a:t>구조체 임계구역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323EEDC2-18FB-E349-4EEC-AAB9AF84C5A1}"/>
              </a:ext>
            </a:extLst>
          </p:cNvPr>
          <p:cNvSpPr/>
          <p:nvPr/>
        </p:nvSpPr>
        <p:spPr>
          <a:xfrm>
            <a:off x="3590760" y="5311941"/>
            <a:ext cx="2160646" cy="8003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5188D7-6873-6CF0-65FF-324C2E4D42E5}"/>
              </a:ext>
            </a:extLst>
          </p:cNvPr>
          <p:cNvSpPr txBox="1"/>
          <p:nvPr/>
        </p:nvSpPr>
        <p:spPr>
          <a:xfrm>
            <a:off x="3660357" y="5388954"/>
            <a:ext cx="1808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ibus</a:t>
            </a:r>
            <a:r>
              <a:rPr lang="ko-KR" altLang="en-US" dirty="0"/>
              <a:t> 확인해서 </a:t>
            </a:r>
            <a:endParaRPr lang="en-US" altLang="ko-KR" dirty="0"/>
          </a:p>
          <a:p>
            <a:r>
              <a:rPr lang="en-US" altLang="ko-KR" dirty="0"/>
              <a:t>fail </a:t>
            </a:r>
            <a:r>
              <a:rPr lang="ko-KR" altLang="en-US" dirty="0"/>
              <a:t>플래그 결정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0A03851-0820-DA87-40C8-7E9AAD4754E7}"/>
              </a:ext>
            </a:extLst>
          </p:cNvPr>
          <p:cNvSpPr/>
          <p:nvPr/>
        </p:nvSpPr>
        <p:spPr>
          <a:xfrm>
            <a:off x="6374192" y="2955899"/>
            <a:ext cx="2160646" cy="8003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B17B8A-9138-665D-AC5C-75C6D8BBF5AC}"/>
              </a:ext>
            </a:extLst>
          </p:cNvPr>
          <p:cNvSpPr txBox="1"/>
          <p:nvPr/>
        </p:nvSpPr>
        <p:spPr>
          <a:xfrm>
            <a:off x="6550261" y="3013247"/>
            <a:ext cx="1911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가속도센서 </a:t>
            </a:r>
            <a:r>
              <a:rPr lang="en-US" altLang="ko-KR" dirty="0"/>
              <a:t>Az</a:t>
            </a:r>
            <a:r>
              <a:rPr lang="ko-KR" altLang="en-US" dirty="0"/>
              <a:t>값</a:t>
            </a:r>
            <a:endParaRPr lang="en-US" altLang="ko-KR" dirty="0"/>
          </a:p>
          <a:p>
            <a:r>
              <a:rPr lang="ko-KR" altLang="en-US" dirty="0"/>
              <a:t>읽기</a:t>
            </a:r>
          </a:p>
        </p:txBody>
      </p:sp>
      <p:sp>
        <p:nvSpPr>
          <p:cNvPr id="62" name="다이아몬드 61">
            <a:extLst>
              <a:ext uri="{FF2B5EF4-FFF2-40B4-BE49-F238E27FC236}">
                <a16:creationId xmlns:a16="http://schemas.microsoft.com/office/drawing/2014/main" id="{06387A62-7B49-8E02-6B1E-EA207B812DF9}"/>
              </a:ext>
            </a:extLst>
          </p:cNvPr>
          <p:cNvSpPr/>
          <p:nvPr/>
        </p:nvSpPr>
        <p:spPr>
          <a:xfrm>
            <a:off x="6406420" y="3899558"/>
            <a:ext cx="2054942" cy="1033357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7EC5A2-78D3-64F7-2214-7D2AF6D3A6F5}"/>
              </a:ext>
            </a:extLst>
          </p:cNvPr>
          <p:cNvSpPr txBox="1"/>
          <p:nvPr/>
        </p:nvSpPr>
        <p:spPr>
          <a:xfrm>
            <a:off x="6835810" y="4079487"/>
            <a:ext cx="1295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Az</a:t>
            </a:r>
            <a:r>
              <a:rPr lang="ko-KR" altLang="en-US" dirty="0"/>
              <a:t>값 </a:t>
            </a:r>
            <a:r>
              <a:rPr lang="en-US" altLang="ko-KR" dirty="0"/>
              <a:t>4</a:t>
            </a:r>
            <a:r>
              <a:rPr lang="ko-KR" altLang="en-US" dirty="0"/>
              <a:t>번 </a:t>
            </a:r>
            <a:endParaRPr lang="en-US" altLang="ko-KR" dirty="0"/>
          </a:p>
          <a:p>
            <a:r>
              <a:rPr lang="ko-KR" altLang="en-US" dirty="0"/>
              <a:t>연속 음수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DF2D9F8E-7B9C-D59B-2D26-C00CD5026467}"/>
              </a:ext>
            </a:extLst>
          </p:cNvPr>
          <p:cNvSpPr/>
          <p:nvPr/>
        </p:nvSpPr>
        <p:spPr>
          <a:xfrm>
            <a:off x="6355817" y="5076877"/>
            <a:ext cx="2171714" cy="8003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E25226-BAC8-CCF9-624B-75A4A9508D65}"/>
              </a:ext>
            </a:extLst>
          </p:cNvPr>
          <p:cNvSpPr txBox="1"/>
          <p:nvPr/>
        </p:nvSpPr>
        <p:spPr>
          <a:xfrm>
            <a:off x="6426976" y="5163892"/>
            <a:ext cx="1661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차량 전복 </a:t>
            </a:r>
            <a:r>
              <a:rPr lang="en-US" altLang="ko-KR" dirty="0"/>
              <a:t>flag</a:t>
            </a:r>
          </a:p>
          <a:p>
            <a:r>
              <a:rPr lang="en-US" altLang="ko-KR" dirty="0"/>
              <a:t>set/reset</a:t>
            </a:r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BB98B5E7-7C75-9186-0C2A-84F1EA405ED3}"/>
              </a:ext>
            </a:extLst>
          </p:cNvPr>
          <p:cNvSpPr/>
          <p:nvPr/>
        </p:nvSpPr>
        <p:spPr>
          <a:xfrm>
            <a:off x="9219142" y="2941205"/>
            <a:ext cx="2160646" cy="8003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3AA948-FE79-FF6A-F936-1208EF75588B}"/>
              </a:ext>
            </a:extLst>
          </p:cNvPr>
          <p:cNvSpPr txBox="1"/>
          <p:nvPr/>
        </p:nvSpPr>
        <p:spPr>
          <a:xfrm>
            <a:off x="9514096" y="3118011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ADC</a:t>
            </a:r>
            <a:r>
              <a:rPr lang="ko-KR" altLang="en-US" dirty="0"/>
              <a:t>값 읽기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21CE4B0B-2F75-B8A9-7EE4-28F48F84D688}"/>
              </a:ext>
            </a:extLst>
          </p:cNvPr>
          <p:cNvSpPr/>
          <p:nvPr/>
        </p:nvSpPr>
        <p:spPr>
          <a:xfrm>
            <a:off x="9219142" y="3968384"/>
            <a:ext cx="2160646" cy="8003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7F42F4-A1EC-1D6C-2F33-56EA4B328D52}"/>
              </a:ext>
            </a:extLst>
          </p:cNvPr>
          <p:cNvSpPr txBox="1"/>
          <p:nvPr/>
        </p:nvSpPr>
        <p:spPr>
          <a:xfrm>
            <a:off x="9514096" y="4177376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전압 값 계산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C714F40B-58E5-6D75-6888-F0BC1B59FCC9}"/>
              </a:ext>
            </a:extLst>
          </p:cNvPr>
          <p:cNvSpPr/>
          <p:nvPr/>
        </p:nvSpPr>
        <p:spPr>
          <a:xfrm>
            <a:off x="9219142" y="4926565"/>
            <a:ext cx="2160646" cy="13009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EE304A-0B0D-6B1A-18C7-F97BCB696B0F}"/>
              </a:ext>
            </a:extLst>
          </p:cNvPr>
          <p:cNvSpPr txBox="1"/>
          <p:nvPr/>
        </p:nvSpPr>
        <p:spPr>
          <a:xfrm>
            <a:off x="9219142" y="5056798"/>
            <a:ext cx="21948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완충 대비 </a:t>
            </a:r>
            <a:endParaRPr lang="en-US" altLang="ko-KR" dirty="0"/>
          </a:p>
          <a:p>
            <a:r>
              <a:rPr lang="ko-KR" altLang="en-US" dirty="0"/>
              <a:t>현재 배터리 전압을</a:t>
            </a:r>
            <a:endParaRPr lang="en-US" altLang="ko-KR" dirty="0"/>
          </a:p>
          <a:p>
            <a:r>
              <a:rPr lang="en-US" altLang="ko-KR" dirty="0"/>
              <a:t>1~8</a:t>
            </a:r>
            <a:r>
              <a:rPr lang="ko-KR" altLang="en-US" dirty="0"/>
              <a:t>단계로 표시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7EDECF6-9D57-0A19-F0C8-C865AED0E048}"/>
              </a:ext>
            </a:extLst>
          </p:cNvPr>
          <p:cNvSpPr/>
          <p:nvPr/>
        </p:nvSpPr>
        <p:spPr>
          <a:xfrm>
            <a:off x="769226" y="3958080"/>
            <a:ext cx="2160646" cy="8003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AD7A9E1-8321-D576-1BCF-2063F7DAD04A}"/>
              </a:ext>
            </a:extLst>
          </p:cNvPr>
          <p:cNvSpPr txBox="1"/>
          <p:nvPr/>
        </p:nvSpPr>
        <p:spPr>
          <a:xfrm>
            <a:off x="811681" y="4022573"/>
            <a:ext cx="2194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ibus</a:t>
            </a:r>
            <a:r>
              <a:rPr lang="en-US" altLang="ko-KR" dirty="0"/>
              <a:t> </a:t>
            </a:r>
            <a:r>
              <a:rPr lang="ko-KR" altLang="en-US" dirty="0"/>
              <a:t>값으로부터</a:t>
            </a:r>
            <a:endParaRPr lang="en-US" altLang="ko-KR" dirty="0"/>
          </a:p>
          <a:p>
            <a:r>
              <a:rPr lang="ko-KR" altLang="en-US" dirty="0" err="1"/>
              <a:t>조향과</a:t>
            </a:r>
            <a:r>
              <a:rPr lang="ko-KR" altLang="en-US" dirty="0"/>
              <a:t> </a:t>
            </a:r>
            <a:r>
              <a:rPr lang="ko-KR" altLang="en-US" dirty="0" err="1"/>
              <a:t>스로틀</a:t>
            </a:r>
            <a:r>
              <a:rPr lang="ko-KR" altLang="en-US" dirty="0"/>
              <a:t> 읽음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F2008E17-67B4-D728-7920-D107D7E07B44}"/>
              </a:ext>
            </a:extLst>
          </p:cNvPr>
          <p:cNvCxnSpPr>
            <a:cxnSpLocks/>
          </p:cNvCxnSpPr>
          <p:nvPr/>
        </p:nvCxnSpPr>
        <p:spPr>
          <a:xfrm>
            <a:off x="586395" y="3855636"/>
            <a:ext cx="247527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971A97F-2E3F-D718-FB99-6F32AEA961F0}"/>
              </a:ext>
            </a:extLst>
          </p:cNvPr>
          <p:cNvSpPr txBox="1"/>
          <p:nvPr/>
        </p:nvSpPr>
        <p:spPr>
          <a:xfrm>
            <a:off x="763383" y="4807762"/>
            <a:ext cx="190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ibus</a:t>
            </a:r>
            <a:r>
              <a:rPr lang="en-US" altLang="ko-KR" sz="1400" dirty="0"/>
              <a:t> </a:t>
            </a:r>
            <a:r>
              <a:rPr lang="ko-KR" altLang="en-US" sz="1400" dirty="0"/>
              <a:t>구조체 임계구역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FE611772-6651-EFB8-23DC-229FCF0E9821}"/>
              </a:ext>
            </a:extLst>
          </p:cNvPr>
          <p:cNvCxnSpPr>
            <a:cxnSpLocks/>
          </p:cNvCxnSpPr>
          <p:nvPr/>
        </p:nvCxnSpPr>
        <p:spPr>
          <a:xfrm>
            <a:off x="606059" y="5164414"/>
            <a:ext cx="247527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B39E6A0-9EEA-8043-E19B-D9B5E9A06854}"/>
              </a:ext>
            </a:extLst>
          </p:cNvPr>
          <p:cNvSpPr/>
          <p:nvPr/>
        </p:nvSpPr>
        <p:spPr>
          <a:xfrm>
            <a:off x="9405907" y="403953"/>
            <a:ext cx="1963617" cy="10422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93A74-73A7-E23B-FA03-C90805B224E6}"/>
              </a:ext>
            </a:extLst>
          </p:cNvPr>
          <p:cNvSpPr txBox="1"/>
          <p:nvPr/>
        </p:nvSpPr>
        <p:spPr>
          <a:xfrm>
            <a:off x="9405906" y="577177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조종신호 </a:t>
            </a:r>
            <a:r>
              <a:rPr lang="en-US" altLang="ko-KR" dirty="0"/>
              <a:t>UART </a:t>
            </a:r>
          </a:p>
          <a:p>
            <a:r>
              <a:rPr lang="ko-KR" altLang="en-US" dirty="0"/>
              <a:t>인터럽트로 수신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6F3D93-9D64-C066-5886-82ADB6564317}"/>
              </a:ext>
            </a:extLst>
          </p:cNvPr>
          <p:cNvSpPr/>
          <p:nvPr/>
        </p:nvSpPr>
        <p:spPr>
          <a:xfrm>
            <a:off x="6805963" y="519829"/>
            <a:ext cx="1882247" cy="8239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메시지 큐</a:t>
            </a:r>
          </a:p>
        </p:txBody>
      </p:sp>
      <p:sp>
        <p:nvSpPr>
          <p:cNvPr id="21" name="화살표: 왼쪽 20">
            <a:extLst>
              <a:ext uri="{FF2B5EF4-FFF2-40B4-BE49-F238E27FC236}">
                <a16:creationId xmlns:a16="http://schemas.microsoft.com/office/drawing/2014/main" id="{F47EE726-222D-8BF8-6E50-7D37050BA94A}"/>
              </a:ext>
            </a:extLst>
          </p:cNvPr>
          <p:cNvSpPr/>
          <p:nvPr/>
        </p:nvSpPr>
        <p:spPr>
          <a:xfrm rot="17825816">
            <a:off x="5043809" y="1745584"/>
            <a:ext cx="2353616" cy="48463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왼쪽 24">
            <a:extLst>
              <a:ext uri="{FF2B5EF4-FFF2-40B4-BE49-F238E27FC236}">
                <a16:creationId xmlns:a16="http://schemas.microsoft.com/office/drawing/2014/main" id="{98292F4A-6ADF-EF8B-9860-623CACD66DAF}"/>
              </a:ext>
            </a:extLst>
          </p:cNvPr>
          <p:cNvSpPr/>
          <p:nvPr/>
        </p:nvSpPr>
        <p:spPr>
          <a:xfrm>
            <a:off x="8665029" y="682747"/>
            <a:ext cx="688199" cy="48463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448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830DA-F66D-EB1E-9D0B-A0F33FBB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/>
              <a:t>IC </a:t>
            </a:r>
            <a:r>
              <a:rPr lang="ko-KR" altLang="en-US" dirty="0"/>
              <a:t>드라이버 구현</a:t>
            </a:r>
            <a:r>
              <a:rPr lang="en-US" altLang="ko-KR" dirty="0"/>
              <a:t>(MAX 7219)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ABD83AB-1EB1-5824-A6F7-39CDF6889F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25" b="32988"/>
          <a:stretch>
            <a:fillRect/>
          </a:stretch>
        </p:blipFill>
        <p:spPr>
          <a:xfrm>
            <a:off x="700442" y="1749202"/>
            <a:ext cx="7292972" cy="121030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43CE0FA-2A06-42B0-B83C-365BB1D928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934" r="1211"/>
          <a:stretch>
            <a:fillRect/>
          </a:stretch>
        </p:blipFill>
        <p:spPr>
          <a:xfrm>
            <a:off x="700442" y="6202391"/>
            <a:ext cx="7204588" cy="2476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D2AC210-71D4-75CE-D841-31901C987F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038"/>
          <a:stretch>
            <a:fillRect/>
          </a:stretch>
        </p:blipFill>
        <p:spPr>
          <a:xfrm>
            <a:off x="700442" y="3749880"/>
            <a:ext cx="7292972" cy="245251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E5B5E35-B21A-4152-5FFD-6C397D5A3313}"/>
              </a:ext>
            </a:extLst>
          </p:cNvPr>
          <p:cNvSpPr txBox="1"/>
          <p:nvPr/>
        </p:nvSpPr>
        <p:spPr>
          <a:xfrm>
            <a:off x="528461" y="1264741"/>
            <a:ext cx="11073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STM32</a:t>
            </a:r>
            <a:r>
              <a:rPr lang="ko-KR" altLang="en-US" dirty="0"/>
              <a:t>의 로직 </a:t>
            </a:r>
            <a:r>
              <a:rPr lang="en-US" altLang="ko-KR" dirty="0"/>
              <a:t>HIGH</a:t>
            </a:r>
            <a:r>
              <a:rPr lang="ko-KR" altLang="en-US" dirty="0"/>
              <a:t>는 </a:t>
            </a:r>
            <a:r>
              <a:rPr lang="en-US" altLang="ko-KR" dirty="0"/>
              <a:t>3.3V</a:t>
            </a:r>
            <a:r>
              <a:rPr lang="ko-KR" altLang="en-US" dirty="0"/>
              <a:t>이고 </a:t>
            </a:r>
            <a:r>
              <a:rPr lang="en-US" altLang="ko-KR" dirty="0"/>
              <a:t>MAX 7219</a:t>
            </a:r>
            <a:r>
              <a:rPr lang="ko-KR" altLang="en-US" dirty="0"/>
              <a:t>의 </a:t>
            </a:r>
            <a:r>
              <a:rPr lang="en-US" altLang="ko-KR" dirty="0"/>
              <a:t>VIH</a:t>
            </a:r>
            <a:r>
              <a:rPr lang="ko-KR" altLang="en-US" dirty="0"/>
              <a:t> </a:t>
            </a:r>
            <a:r>
              <a:rPr lang="en-US" altLang="ko-KR" dirty="0"/>
              <a:t>MIN</a:t>
            </a:r>
            <a:r>
              <a:rPr lang="ko-KR" altLang="en-US" dirty="0"/>
              <a:t>값을 넘기 위해서 시프트 레지스터 필요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6D306B-DA99-3086-D9D5-AC113E899049}"/>
              </a:ext>
            </a:extLst>
          </p:cNvPr>
          <p:cNvSpPr/>
          <p:nvPr/>
        </p:nvSpPr>
        <p:spPr>
          <a:xfrm>
            <a:off x="8662219" y="1828800"/>
            <a:ext cx="2261420" cy="160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1CF4DD-813E-5F17-D1FE-8F63721DEEB0}"/>
              </a:ext>
            </a:extLst>
          </p:cNvPr>
          <p:cNvSpPr/>
          <p:nvPr/>
        </p:nvSpPr>
        <p:spPr>
          <a:xfrm>
            <a:off x="8662219" y="2251587"/>
            <a:ext cx="2261420" cy="7079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52D35-F700-8F53-E088-E1AC5E4527DC}"/>
              </a:ext>
            </a:extLst>
          </p:cNvPr>
          <p:cNvSpPr txBox="1"/>
          <p:nvPr/>
        </p:nvSpPr>
        <p:spPr>
          <a:xfrm>
            <a:off x="11061308" y="1644134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HIGH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990998-FDEB-56DC-8BBF-2201FA1EEFF1}"/>
              </a:ext>
            </a:extLst>
          </p:cNvPr>
          <p:cNvSpPr txBox="1"/>
          <p:nvPr/>
        </p:nvSpPr>
        <p:spPr>
          <a:xfrm>
            <a:off x="11120301" y="3240390"/>
            <a:ext cx="684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LOW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D1F28E-D510-B2F1-FFCB-3DE868166E38}"/>
              </a:ext>
            </a:extLst>
          </p:cNvPr>
          <p:cNvSpPr txBox="1"/>
          <p:nvPr/>
        </p:nvSpPr>
        <p:spPr>
          <a:xfrm>
            <a:off x="11115008" y="2072930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3.5V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BB79C0-268B-AC6A-72DB-97E54385F9FA}"/>
              </a:ext>
            </a:extLst>
          </p:cNvPr>
          <p:cNvSpPr txBox="1"/>
          <p:nvPr/>
        </p:nvSpPr>
        <p:spPr>
          <a:xfrm>
            <a:off x="11135242" y="2774843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0.8V</a:t>
            </a:r>
            <a:endParaRPr lang="ko-KR" altLang="en-US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A4FB35B-8E2F-1C20-3973-4CB1F58D533C}"/>
              </a:ext>
            </a:extLst>
          </p:cNvPr>
          <p:cNvCxnSpPr/>
          <p:nvPr/>
        </p:nvCxnSpPr>
        <p:spPr>
          <a:xfrm>
            <a:off x="1887794" y="4178710"/>
            <a:ext cx="17894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CA56A5E-2A04-ABBD-B4E6-49E254521962}"/>
              </a:ext>
            </a:extLst>
          </p:cNvPr>
          <p:cNvSpPr txBox="1"/>
          <p:nvPr/>
        </p:nvSpPr>
        <p:spPr>
          <a:xfrm>
            <a:off x="8052407" y="3894790"/>
            <a:ext cx="1968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SPI</a:t>
            </a:r>
            <a:r>
              <a:rPr lang="ko-KR" altLang="en-US" sz="1400" dirty="0"/>
              <a:t>의 </a:t>
            </a:r>
            <a:r>
              <a:rPr lang="en-US" altLang="ko-KR" sz="1400" dirty="0"/>
              <a:t>MOSI </a:t>
            </a:r>
            <a:r>
              <a:rPr lang="ko-KR" altLang="en-US" sz="1400" dirty="0"/>
              <a:t>핀에 해당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F671F7-DAF6-5739-099C-DE2CEC1FA11F}"/>
              </a:ext>
            </a:extLst>
          </p:cNvPr>
          <p:cNvSpPr txBox="1"/>
          <p:nvPr/>
        </p:nvSpPr>
        <p:spPr>
          <a:xfrm>
            <a:off x="8052407" y="4869859"/>
            <a:ext cx="3799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16</a:t>
            </a:r>
            <a:r>
              <a:rPr lang="ko-KR" altLang="en-US" sz="1400" dirty="0"/>
              <a:t>비트마다 </a:t>
            </a:r>
            <a:r>
              <a:rPr lang="en-US" altLang="ko-KR" sz="1400" dirty="0"/>
              <a:t>LOAD</a:t>
            </a:r>
            <a:r>
              <a:rPr lang="ko-KR" altLang="en-US" sz="1400" dirty="0"/>
              <a:t>핀을 </a:t>
            </a:r>
            <a:r>
              <a:rPr lang="en-US" altLang="ko-KR" sz="1400" dirty="0"/>
              <a:t>LOW -&gt; HIGH</a:t>
            </a:r>
            <a:r>
              <a:rPr lang="ko-KR" altLang="en-US" sz="1400" dirty="0"/>
              <a:t>로 해야</a:t>
            </a:r>
            <a:endParaRPr lang="en-US" altLang="ko-KR" sz="1400" dirty="0"/>
          </a:p>
          <a:p>
            <a:r>
              <a:rPr lang="en-US" altLang="ko-KR" sz="1400" dirty="0"/>
              <a:t>MAX 7219</a:t>
            </a:r>
            <a:r>
              <a:rPr lang="ko-KR" altLang="en-US" sz="1400" dirty="0"/>
              <a:t>에 데이터를 입력시킬 수 있음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3" name="곱하기 기호 32">
            <a:extLst>
              <a:ext uri="{FF2B5EF4-FFF2-40B4-BE49-F238E27FC236}">
                <a16:creationId xmlns:a16="http://schemas.microsoft.com/office/drawing/2014/main" id="{F1463CC1-A108-EA7E-046F-92F1CAB244A6}"/>
              </a:ext>
            </a:extLst>
          </p:cNvPr>
          <p:cNvSpPr/>
          <p:nvPr/>
        </p:nvSpPr>
        <p:spPr>
          <a:xfrm>
            <a:off x="1602659" y="5040303"/>
            <a:ext cx="914400" cy="914400"/>
          </a:xfrm>
          <a:prstGeom prst="mathMultiply">
            <a:avLst>
              <a:gd name="adj1" fmla="val 416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7FAED63-0CE8-2081-BF97-0B4CD0A43EF1}"/>
              </a:ext>
            </a:extLst>
          </p:cNvPr>
          <p:cNvCxnSpPr>
            <a:cxnSpLocks/>
          </p:cNvCxnSpPr>
          <p:nvPr/>
        </p:nvCxnSpPr>
        <p:spPr>
          <a:xfrm>
            <a:off x="2689123" y="5845278"/>
            <a:ext cx="22958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737B9F9-DFB1-B566-0268-19DC59DFA74A}"/>
              </a:ext>
            </a:extLst>
          </p:cNvPr>
          <p:cNvSpPr txBox="1"/>
          <p:nvPr/>
        </p:nvSpPr>
        <p:spPr>
          <a:xfrm>
            <a:off x="8074821" y="5678048"/>
            <a:ext cx="41171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/>
              <a:t>MCU SPI</a:t>
            </a:r>
            <a:r>
              <a:rPr lang="ko-KR" altLang="en-US" sz="1400" dirty="0"/>
              <a:t>에 공급되는 클럭을 </a:t>
            </a:r>
            <a:r>
              <a:rPr lang="en-US" altLang="ko-KR" sz="1400" dirty="0"/>
              <a:t>10MHz </a:t>
            </a:r>
            <a:r>
              <a:rPr lang="ko-KR" altLang="en-US" sz="1400" dirty="0"/>
              <a:t>이하가</a:t>
            </a:r>
            <a:r>
              <a:rPr lang="en-US" altLang="ko-KR" sz="1400" dirty="0"/>
              <a:t> </a:t>
            </a:r>
            <a:r>
              <a:rPr lang="ko-KR" altLang="en-US" sz="1400" dirty="0"/>
              <a:t>되도록 </a:t>
            </a:r>
            <a:r>
              <a:rPr lang="en-US" altLang="ko-KR" sz="1400" dirty="0" err="1"/>
              <a:t>Prescalar</a:t>
            </a:r>
            <a:r>
              <a:rPr lang="en-US" altLang="ko-KR" sz="1400" dirty="0"/>
              <a:t> </a:t>
            </a:r>
            <a:r>
              <a:rPr lang="ko-KR" altLang="en-US" sz="1400" dirty="0"/>
              <a:t>설정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CPOL = 0, CPHA = 0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41E16C6-E669-1E4D-D8A1-EA0F6A7222AF}"/>
              </a:ext>
            </a:extLst>
          </p:cNvPr>
          <p:cNvCxnSpPr>
            <a:cxnSpLocks/>
          </p:cNvCxnSpPr>
          <p:nvPr/>
        </p:nvCxnSpPr>
        <p:spPr>
          <a:xfrm>
            <a:off x="3677265" y="5216013"/>
            <a:ext cx="35002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30A3AD43-3200-8B99-FD02-3147509E7051}"/>
              </a:ext>
            </a:extLst>
          </p:cNvPr>
          <p:cNvCxnSpPr>
            <a:cxnSpLocks/>
          </p:cNvCxnSpPr>
          <p:nvPr/>
        </p:nvCxnSpPr>
        <p:spPr>
          <a:xfrm>
            <a:off x="4060723" y="6371303"/>
            <a:ext cx="9242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CBD23050-7611-675B-EC7C-0A342EE57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84" y="3347161"/>
            <a:ext cx="7483488" cy="38103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C52685F-FE8D-3CEB-3204-EE167AEEE777}"/>
              </a:ext>
            </a:extLst>
          </p:cNvPr>
          <p:cNvSpPr txBox="1"/>
          <p:nvPr/>
        </p:nvSpPr>
        <p:spPr>
          <a:xfrm>
            <a:off x="3902316" y="6504331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공급 전압 </a:t>
            </a:r>
            <a:r>
              <a:rPr lang="en-US" altLang="ko-KR" sz="1400" dirty="0"/>
              <a:t>5V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2053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F3EF9-8B1A-F2D9-4130-6E7AFE82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altLang="ko-KR" dirty="0"/>
              <a:t>IC </a:t>
            </a:r>
            <a:r>
              <a:rPr lang="ko-KR" altLang="en-US" dirty="0"/>
              <a:t>드라이버 구현</a:t>
            </a:r>
            <a:r>
              <a:rPr lang="en-US" altLang="ko-KR" dirty="0"/>
              <a:t>(MAX 7219)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0C7D19-0D71-DA58-4472-4B1431BF4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54" y="1176497"/>
            <a:ext cx="7399661" cy="8839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8C7EFD4-5953-BFBE-FADE-11F6E9EBC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703007"/>
            <a:ext cx="3619814" cy="3984171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F7D7520-182F-B90E-9426-D78E42B6505B}"/>
              </a:ext>
            </a:extLst>
          </p:cNvPr>
          <p:cNvSpPr/>
          <p:nvPr/>
        </p:nvSpPr>
        <p:spPr>
          <a:xfrm>
            <a:off x="4827641" y="2603820"/>
            <a:ext cx="3705182" cy="6399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F4E53A-8225-42BD-B888-F2476D12C7F0}"/>
              </a:ext>
            </a:extLst>
          </p:cNvPr>
          <p:cNvSpPr txBox="1"/>
          <p:nvPr/>
        </p:nvSpPr>
        <p:spPr>
          <a:xfrm>
            <a:off x="4933314" y="2761593"/>
            <a:ext cx="348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Display Test </a:t>
            </a:r>
            <a:r>
              <a:rPr lang="ko-KR" altLang="en-US" dirty="0"/>
              <a:t>모드를 끔 </a:t>
            </a:r>
            <a:r>
              <a:rPr lang="en-US" altLang="ko-KR" dirty="0"/>
              <a:t>: 0x0F00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DF00AC5-883F-C17D-7FF6-319B6CF4F0FE}"/>
              </a:ext>
            </a:extLst>
          </p:cNvPr>
          <p:cNvSpPr/>
          <p:nvPr/>
        </p:nvSpPr>
        <p:spPr>
          <a:xfrm>
            <a:off x="4827639" y="3459815"/>
            <a:ext cx="3736259" cy="6399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F58BC7-C5F5-1FDA-F133-9F90427EC4B4}"/>
              </a:ext>
            </a:extLst>
          </p:cNvPr>
          <p:cNvSpPr txBox="1"/>
          <p:nvPr/>
        </p:nvSpPr>
        <p:spPr>
          <a:xfrm>
            <a:off x="5385124" y="5604846"/>
            <a:ext cx="26378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Intensity(</a:t>
            </a:r>
            <a:r>
              <a:rPr lang="ko-KR" altLang="en-US" dirty="0"/>
              <a:t>밝기</a:t>
            </a:r>
            <a:r>
              <a:rPr lang="en-US" altLang="ko-KR" dirty="0"/>
              <a:t>) duty cycle </a:t>
            </a:r>
            <a:r>
              <a:rPr lang="ko-KR" altLang="en-US" dirty="0"/>
              <a:t>절반으로</a:t>
            </a:r>
            <a:r>
              <a:rPr lang="en-US" altLang="ko-KR" dirty="0"/>
              <a:t> </a:t>
            </a:r>
            <a:r>
              <a:rPr lang="ko-KR" altLang="en-US" dirty="0"/>
              <a:t>조절</a:t>
            </a:r>
            <a:endParaRPr lang="en-US" altLang="ko-KR" dirty="0"/>
          </a:p>
          <a:p>
            <a:pPr algn="ctr"/>
            <a:r>
              <a:rPr lang="en-US" altLang="ko-KR" dirty="0"/>
              <a:t>: 0x0A07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BDF3E95-1D3B-638C-335F-3FD804A71029}"/>
              </a:ext>
            </a:extLst>
          </p:cNvPr>
          <p:cNvSpPr/>
          <p:nvPr/>
        </p:nvSpPr>
        <p:spPr>
          <a:xfrm>
            <a:off x="4827639" y="4305764"/>
            <a:ext cx="3736259" cy="10365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59660E-0B60-5097-2792-64FEBA41F4BF}"/>
              </a:ext>
            </a:extLst>
          </p:cNvPr>
          <p:cNvSpPr txBox="1"/>
          <p:nvPr/>
        </p:nvSpPr>
        <p:spPr>
          <a:xfrm>
            <a:off x="4933312" y="4373420"/>
            <a:ext cx="3477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도트 매트릭스에서 </a:t>
            </a:r>
            <a:endParaRPr lang="en-US" altLang="ko-KR" dirty="0"/>
          </a:p>
          <a:p>
            <a:pPr algn="ctr"/>
            <a:r>
              <a:rPr lang="en-US" altLang="ko-KR" dirty="0"/>
              <a:t>8</a:t>
            </a:r>
            <a:r>
              <a:rPr lang="ko-KR" altLang="en-US" dirty="0"/>
              <a:t>개의 행을 사용하기로 설정</a:t>
            </a:r>
            <a:endParaRPr lang="en-US" altLang="ko-KR" dirty="0"/>
          </a:p>
          <a:p>
            <a:pPr algn="ctr"/>
            <a:r>
              <a:rPr lang="en-US" altLang="ko-KR" dirty="0"/>
              <a:t>: 0x0B07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C596B81-B450-EB50-A048-44A503233BF9}"/>
              </a:ext>
            </a:extLst>
          </p:cNvPr>
          <p:cNvSpPr/>
          <p:nvPr/>
        </p:nvSpPr>
        <p:spPr>
          <a:xfrm>
            <a:off x="5329855" y="5548258"/>
            <a:ext cx="2792362" cy="10365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D97293-3A04-072C-B1C7-3458B3AA1CD5}"/>
              </a:ext>
            </a:extLst>
          </p:cNvPr>
          <p:cNvSpPr txBox="1"/>
          <p:nvPr/>
        </p:nvSpPr>
        <p:spPr>
          <a:xfrm>
            <a:off x="4933313" y="3599502"/>
            <a:ext cx="3551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Shutdown </a:t>
            </a:r>
            <a:r>
              <a:rPr lang="ko-KR" altLang="en-US" dirty="0"/>
              <a:t>모드를 끔 </a:t>
            </a:r>
            <a:r>
              <a:rPr lang="en-US" altLang="ko-KR" dirty="0"/>
              <a:t>: 0x0C00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B5CE76B-5FD7-00DA-08D3-8641E20FD908}"/>
              </a:ext>
            </a:extLst>
          </p:cNvPr>
          <p:cNvSpPr/>
          <p:nvPr/>
        </p:nvSpPr>
        <p:spPr>
          <a:xfrm>
            <a:off x="9289821" y="5738438"/>
            <a:ext cx="2558867" cy="6399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A5D00C-E3CD-C26A-2373-DB931F4D2DA7}"/>
              </a:ext>
            </a:extLst>
          </p:cNvPr>
          <p:cNvSpPr txBox="1"/>
          <p:nvPr/>
        </p:nvSpPr>
        <p:spPr>
          <a:xfrm>
            <a:off x="9335682" y="5896212"/>
            <a:ext cx="2453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Digit x</a:t>
            </a:r>
            <a:r>
              <a:rPr lang="ko-KR" altLang="en-US" dirty="0"/>
              <a:t>에 </a:t>
            </a:r>
            <a:r>
              <a:rPr lang="en-US" altLang="ko-KR" dirty="0"/>
              <a:t>DATA </a:t>
            </a:r>
            <a:r>
              <a:rPr lang="ko-KR" altLang="en-US" dirty="0"/>
              <a:t>출력 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AC5B3FF-2E3E-E30E-2AF6-F56118BFF4D5}"/>
              </a:ext>
            </a:extLst>
          </p:cNvPr>
          <p:cNvCxnSpPr/>
          <p:nvPr/>
        </p:nvCxnSpPr>
        <p:spPr>
          <a:xfrm>
            <a:off x="8819535" y="2517058"/>
            <a:ext cx="0" cy="41701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1D3FE645-0DE0-A94C-4036-8A2951E7D149}"/>
              </a:ext>
            </a:extLst>
          </p:cNvPr>
          <p:cNvSpPr/>
          <p:nvPr/>
        </p:nvSpPr>
        <p:spPr>
          <a:xfrm>
            <a:off x="8216815" y="5816103"/>
            <a:ext cx="978408" cy="4846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AB35A1-1AC3-1788-4D79-AE3ED47472A3}"/>
              </a:ext>
            </a:extLst>
          </p:cNvPr>
          <p:cNvSpPr txBox="1"/>
          <p:nvPr/>
        </p:nvSpPr>
        <p:spPr>
          <a:xfrm>
            <a:off x="5993737" y="2147491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초기화 코드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AC6E61-B43C-BD13-3DDC-9C0BFE0E8C32}"/>
              </a:ext>
            </a:extLst>
          </p:cNvPr>
          <p:cNvSpPr txBox="1"/>
          <p:nvPr/>
        </p:nvSpPr>
        <p:spPr>
          <a:xfrm>
            <a:off x="9694672" y="2075878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Application</a:t>
            </a:r>
            <a:r>
              <a:rPr lang="ko-KR" altLang="en-US" dirty="0"/>
              <a:t> 코드</a:t>
            </a:r>
          </a:p>
        </p:txBody>
      </p:sp>
    </p:spTree>
    <p:extLst>
      <p:ext uri="{BB962C8B-B14F-4D97-AF65-F5344CB8AC3E}">
        <p14:creationId xmlns:p14="http://schemas.microsoft.com/office/powerpoint/2010/main" val="241778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290</Words>
  <Application>Microsoft Office PowerPoint</Application>
  <PresentationFormat>와이드스크린</PresentationFormat>
  <Paragraphs>94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RC카 임베디드 시스템 SW 구현 및 통합</vt:lpstr>
      <vt:lpstr>시스템 구성</vt:lpstr>
      <vt:lpstr>슈퍼루프 기반 구현</vt:lpstr>
      <vt:lpstr>FreeRTOS 포팅</vt:lpstr>
      <vt:lpstr>IC 드라이버 구현(MAX 7219)</vt:lpstr>
      <vt:lpstr>IC 드라이버 구현(MAX 7219)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도훈 김</dc:creator>
  <cp:lastModifiedBy>도훈 김</cp:lastModifiedBy>
  <cp:revision>4</cp:revision>
  <dcterms:created xsi:type="dcterms:W3CDTF">2026-10-24T05:27:14Z</dcterms:created>
  <dcterms:modified xsi:type="dcterms:W3CDTF">2026-10-26T06:45:27Z</dcterms:modified>
</cp:coreProperties>
</file>